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16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19</c:v>
                </c:pt>
                <c:pt idx="2">
                  <c:v>21</c:v>
                </c:pt>
                <c:pt idx="3">
                  <c:v>12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16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dPt>
            <c:idx val="0"/>
            <c:spPr>
              <a:solidFill>
                <a:srgbClr val="FF40B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2727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CECE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A1A1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  <c:pt idx="3">
                  <c:v>Tier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76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sa de trabajo 2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Trebuchet MS"/>
              </a:rPr>
              <a:t>Plan Estrategico de Comunicaciones</a:t>
            </a:r>
          </a:p>
        </p:txBody>
      </p:sp>
      <p:pic>
        <p:nvPicPr>
          <p:cNvPr id="5" name="Picture 4" descr="Mesa de trabajo 176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"/>
            <a:ext cx="502920" cy="739588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1691640"/>
            <a:ext cx="562356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100">
                <a:solidFill>
                  <a:srgbClr val="FFFFFF"/>
                </a:solidFill>
                <a:latin typeface="Trebuchet MS"/>
              </a:rPr>
              <a:t>Cliente Ejemplo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Nombre de la agencia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9339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Calibri"/>
              </a:defRPr>
            </a:pPr>
            <a:r>
              <a:t>REPORTE ESTRATEGICO</a:t>
            </a:r>
          </a:p>
        </p:txBody>
      </p:sp>
      <p:pic>
        <p:nvPicPr>
          <p:cNvPr id="11" name="Picture 10" descr="Mesa de trabajo 168-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76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sa de trabajo 2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Trebuchet MS"/>
              </a:rPr>
              <a:t>Plan de Prensa</a:t>
            </a:r>
          </a:p>
        </p:txBody>
      </p:sp>
      <p:pic>
        <p:nvPicPr>
          <p:cNvPr id="5" name="Picture 4" descr="Mesa de trabajo 176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"/>
            <a:ext cx="502920" cy="739588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011680"/>
            <a:ext cx="48920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Plan de Prensa</a:t>
            </a:r>
          </a:p>
        </p:txBody>
      </p:sp>
      <p:pic>
        <p:nvPicPr>
          <p:cNvPr id="8" name="Picture 7" descr="Mesa de trabajo 168-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Analisis de Competidores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234440"/>
            <a:ext cx="3246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Marca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5A767E"/>
                </a:solidFill>
                <a:latin typeface="Trebuchet MS"/>
              </a:defRPr>
            </a:pPr>
            <a:r>
              <a:t>48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00584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480560" y="1234440"/>
            <a:ext cx="3246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Marca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5A767E"/>
                </a:solidFill>
                <a:latin typeface="Trebuchet MS"/>
              </a:defRPr>
            </a:pPr>
            <a:r>
              <a:t>36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1772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68680" y="5440680"/>
            <a:ext cx="10332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Marca A domina en Tier 1, mientras que Marca B concentra una presencia mas uniforme en medios secundarios.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440680"/>
            <a:ext cx="128016" cy="73152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Analisis de Concepto Clave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09728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Transformacion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5A767E"/>
                </a:solidFill>
                <a:latin typeface="Trebuchet MS"/>
              </a:defRPr>
            </a:pPr>
            <a:r>
              <a:t>67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2331720"/>
          <a:ext cx="3383280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0" y="1554480"/>
            <a:ext cx="1225295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automatizacion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07023" y="1554480"/>
            <a:ext cx="155448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eficiencia operativa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1554480"/>
            <a:ext cx="1060704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IA aplicada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41663" y="1554480"/>
            <a:ext cx="1719072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experiencia del cliente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160520"/>
            <a:ext cx="5943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El concepto conecta mejor cuando se aterriza en beneficios concretos para el negocio.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128016" cy="12801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Conclusiones Generales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645920"/>
            <a:ext cx="3154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103327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Marca A domina en Tier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154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64515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mientras que Marca B concentra una presencia mas uniforme en medios secundarios.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154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8257032" y="1874519"/>
            <a:ext cx="502920" cy="502920"/>
          </a:xfrm>
          <a:prstGeom prst="hexagon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5603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[COMPLETAR: conclusiones estrategicas]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Recursos de Prensa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463040"/>
            <a:ext cx="4800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Comunicados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Comunicados, columnas de opinion o cartas al director. Es el recurso mas usado para lograr apariciones en medios digitales.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463040"/>
            <a:ext cx="128016" cy="15087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4800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Entrevistas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Centradas en potenciar estudios o hitos. Acompanadas de un brief enfocado en la estrategia.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128016" cy="15087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383280"/>
            <a:ext cx="4800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Contingencia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Participacion en solicitudes de periodistas. Contenido propuesto segun pauta mediatica del momento.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383280"/>
            <a:ext cx="128016" cy="15087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4800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Relacionamiento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Instancias de conversacion intima con medios para crear lazos a largo plazo con la marca.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83280"/>
            <a:ext cx="128016" cy="15087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Objetivo Core de la Estrategia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0120" y="1691640"/>
            <a:ext cx="10012680" cy="292608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latin typeface="Trebuchet MS"/>
              </a:rPr>
              <a:t>Posicionar a la marca como referente en innovacion y aumentar la visibilidad de sus soluciones.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Buyer Persona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0515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Lider de Innovacion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Edad / Profesion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38 | Gerente de Transformacion Digital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54480"/>
            <a:ext cx="128016" cy="9144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69748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Contexto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Lidera iniciativas de cambio en una empresa mediana con presion por mostrar resultados rapidos.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97480"/>
            <a:ext cx="128016" cy="10515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Dolores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Falta de tiempo; resistencia interna al cambio; proveedores poco claros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128016" cy="10515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9319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Metas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Modernizar procesos; demostrar ROI; ganar visibilidad interna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31920"/>
            <a:ext cx="128016" cy="10515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880360"/>
            <a:ext cx="4572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Como busca informacion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Busca reportes, casos de exito, opinion de expertos y cobertura en medios de negocio.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80360"/>
            <a:ext cx="128016" cy="210312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analitico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pragmatico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49056" y="1783080"/>
            <a:ext cx="1005840" cy="320040"/>
          </a:xfrm>
          <a:prstGeom prst="round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curioso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5 Pasos de la Estrategia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914400" y="123444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21615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Definir narrativa principal y mensajes clave.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7627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Priorizar medios y periodistas alineados al objetivo.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3639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Preparar activos de voceria y comunicados.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9651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Ejecutar relacionamiento y respuesta a contingencias.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74920"/>
            <a:ext cx="502920" cy="502920"/>
          </a:xfrm>
          <a:prstGeom prst="ellipse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56632"/>
            <a:ext cx="9052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  <a:latin typeface="Calibri"/>
              </a:defRPr>
            </a:pPr>
            <a:r>
              <a:t>Medir resultados y ajustar el enfoque mes a 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Pilares de Comunicacion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691640"/>
            <a:ext cx="4892040" cy="3154680"/>
          </a:xfrm>
          <a:prstGeom prst="roundRect">
            <a:avLst/>
          </a:prstGeom>
          <a:solidFill>
            <a:srgbClr val="5A767E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FFFFFF"/>
                </a:solidFill>
                <a:latin typeface="Trebuchet MS"/>
              </a:defRPr>
            </a:pPr>
            <a:r>
              <a:t>Liderazgo y vision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Mostrar una mirada experta y clara sobre los cambios de la industria.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4892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5A767E"/>
                </a:solidFill>
                <a:latin typeface="Trebuchet MS"/>
              </a:defRPr>
            </a:pPr>
            <a:r>
              <a:t>Casos y resultados</a:t>
            </a:r>
          </a:p>
          <a:p>
            <a:pPr>
              <a:defRPr sz="1500">
                <a:solidFill>
                  <a:srgbClr val="1A1A1A"/>
                </a:solidFill>
                <a:latin typeface="Calibri"/>
              </a:defRPr>
            </a:pPr>
            <a:r>
              <a:t>Traducir la propuesta de valor en ejemplos concretos y medibles.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Propuestas de Tematicas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325880"/>
            <a:ext cx="4846320" cy="1325880"/>
          </a:xfrm>
          <a:prstGeom prst="roundRect">
            <a:avLst/>
          </a:prstGeom>
          <a:solidFill>
            <a:srgbClr val="FF40B4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Trebuchet MS"/>
              </a:defRPr>
            </a:pPr>
            <a:r>
              <a:t>Enero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- Como modernizar procesos sin frenar la operacion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- Que errores evitar al implementar IA en empresas medianas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Febrero</a:t>
            </a:r>
          </a:p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- Tendencias de automatizacion para 2026</a:t>
            </a:r>
          </a:p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- Casos de exito que muestran ROI real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Periodistas Clave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" y="1234440"/>
            <a:ext cx="2743200" cy="41148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Nombre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234440"/>
            <a:ext cx="2834640" cy="41148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234440"/>
            <a:ext cx="3383280" cy="41148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Area / Beat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69164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Ana Perez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69164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Diario Financiero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69164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Negocios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103120"/>
            <a:ext cx="274320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Tomas Rojas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103120"/>
            <a:ext cx="283464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Pulso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2103120"/>
            <a:ext cx="338328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Tecnologia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51460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51460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51460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926080"/>
            <a:ext cx="274320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926080"/>
            <a:ext cx="283464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2926080"/>
            <a:ext cx="338328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33756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33756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33756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749039"/>
            <a:ext cx="274320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749039"/>
            <a:ext cx="283464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3749039"/>
            <a:ext cx="338328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16052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16052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416052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572000"/>
            <a:ext cx="274320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572000"/>
            <a:ext cx="283464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4572000"/>
            <a:ext cx="338328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983480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983480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983480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5394960"/>
            <a:ext cx="274320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5394960"/>
            <a:ext cx="283464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5394960"/>
            <a:ext cx="3383280" cy="384048"/>
          </a:xfrm>
          <a:prstGeom prst="rect">
            <a:avLst/>
          </a:prstGeom>
          <a:solidFill>
            <a:srgbClr val="F7F7F8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[COMPLETAR]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Como Mediremos el Exito?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32588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Apariciones en medios Tier 1 y Tier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Share of voice frente a competidores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Alcance y engagement en LinkedIn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2316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Leads atribuidos a contenido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76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sa de trabajo 2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Trebuchet MS"/>
              </a:rPr>
              <a:t>Plan de Marketing de Contenidos</a:t>
            </a:r>
          </a:p>
        </p:txBody>
      </p:sp>
      <p:pic>
        <p:nvPicPr>
          <p:cNvPr id="5" name="Picture 4" descr="Mesa de trabajo 176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"/>
            <a:ext cx="502920" cy="739588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011680"/>
            <a:ext cx="48920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Plan de Marketing de Contenidos</a:t>
            </a:r>
          </a:p>
        </p:txBody>
      </p:sp>
      <p:pic>
        <p:nvPicPr>
          <p:cNvPr id="8" name="Picture 7" descr="Mesa de trabajo 168-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Analisis de Competidores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234440"/>
            <a:ext cx="3246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Marca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5A767E"/>
                </a:solidFill>
                <a:latin typeface="Trebuchet MS"/>
              </a:defRPr>
            </a:pPr>
            <a:r>
              <a:t>48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00584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480560" y="1234440"/>
            <a:ext cx="3246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Marca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5A767E"/>
                </a:solidFill>
                <a:latin typeface="Trebuchet MS"/>
              </a:defRPr>
            </a:pPr>
            <a:r>
              <a:t>36</a:t>
            </a:r>
          </a:p>
          <a:p>
            <a:pPr>
              <a:defRPr sz="1100">
                <a:solidFill>
                  <a:srgbClr val="727276"/>
                </a:solidFill>
                <a:latin typeface="Calibri"/>
              </a:defRPr>
            </a:pPr>
            <a:r>
              <a:t>Total de notas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17720" y="2651760"/>
          <a:ext cx="2834640" cy="19202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68680" y="5440680"/>
            <a:ext cx="10332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Conclusiones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Marca A domina en Tier 1, mientras que Marca B concentra una presencia mas uniforme en medios secundarios.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440680"/>
            <a:ext cx="128016" cy="73152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Desk Research: Estado de Redes Sociales del Cliente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325880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LinkedIn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Seguidores: 12000</a:t>
            </a:r>
            <a:br/>
            <a:r>
              <a:t>Frecuencia: 2 veces por semana</a:t>
            </a:r>
            <a:br/>
            <a:r>
              <a:t>Tono: profesional</a:t>
            </a:r>
            <a:br/>
            <a:r>
              <a:t>Observaciones: Buen nivel de consistencia visual pero bajo uso de formatos interactivos.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325880"/>
            <a:ext cx="128016" cy="15087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Instagram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Seguidores: 6500</a:t>
            </a:r>
            <a:br/>
            <a:r>
              <a:t>Frecuencia: 1 vez por semana</a:t>
            </a:r>
            <a:br/>
            <a:r>
              <a:t>Tono: cercano</a:t>
            </a:r>
            <a:br/>
            <a:r>
              <a:t>Observaciones: Hay espacio para mayor frecuencia y contenido educativo.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128016" cy="15087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539496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Sintesis general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La marca tiene una base solida, pero necesita una estrategia editorial mas clara y orientada a conversion.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394960"/>
            <a:ext cx="128016" cy="6400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Objetivos / Metas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2801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Objetivo principal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Posicionar a la marca como referente en innovacion y aumentar la visibilidad de sus soluciones.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280160"/>
            <a:ext cx="128016" cy="9144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56032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Meta 1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Apariciones en medios Tier 1 y Tier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60320"/>
            <a:ext cx="128016" cy="8229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56032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Meta 2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Share of voice frente a competidores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560320"/>
            <a:ext cx="128016" cy="8229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65760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Meta 3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Alcance y engagement en LinkedIn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657600"/>
            <a:ext cx="128016" cy="8229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Meta 4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Leads atribuidos a contenido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128016" cy="82296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Tacticas / Tipos de Contenido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325880"/>
            <a:ext cx="4846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Liderazgo de opinion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Articulos, columnas y posts con postura clara sobre la industria.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325880"/>
            <a:ext cx="128016" cy="8686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4846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Casos de exito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Historias de clientes con aprendizajes y resultados medibles.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128016" cy="8686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468880"/>
            <a:ext cx="4846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Microcontenidos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Clips, carruseles y piezas breves que simplifican temas complejos.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468880"/>
            <a:ext cx="128016" cy="86868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Como Se Ejecutara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371600"/>
            <a:ext cx="10241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5A767E"/>
                </a:solidFill>
                <a:latin typeface="Trebuchet MS"/>
              </a:defRPr>
            </a:pPr>
            <a:r>
              <a:t>Roadmap de ejecucion</a:t>
            </a:r>
          </a:p>
          <a:p>
            <a:pPr>
              <a:defRPr sz="1300">
                <a:solidFill>
                  <a:srgbClr val="1A1A1A"/>
                </a:solidFill>
                <a:latin typeface="Calibri"/>
              </a:defRPr>
            </a:pPr>
            <a:r>
              <a:t>Se trabajara con una planificacion mensual, una reunion editorial por mes, produccion de piezas priorizadas por impacto y seguimiento semanal de desempeno.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371600"/>
            <a:ext cx="128016" cy="18288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977639"/>
            <a:ext cx="2103120" cy="914400"/>
          </a:xfrm>
          <a:prstGeom prst="roundRect">
            <a:avLst/>
          </a:prstGeom>
          <a:solidFill>
            <a:srgbClr val="FF40B4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Planificacion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977639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5A767E"/>
                </a:solidFill>
                <a:latin typeface="Calibri"/>
              </a:rPr>
              <a:t>Produccion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977639"/>
            <a:ext cx="2103120" cy="914400"/>
          </a:xfrm>
          <a:prstGeom prst="roundRect">
            <a:avLst/>
          </a:prstGeom>
          <a:solidFill>
            <a:srgbClr val="FF40B4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Distribucion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39" y="3977639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5A767E"/>
                </a:solidFill>
                <a:latin typeface="Calibri"/>
              </a:rPr>
              <a:t>Medicion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900">
                <a:solidFill>
                  <a:srgbClr val="FFFFFF"/>
                </a:solidFill>
                <a:latin typeface="Trebuchet MS"/>
              </a:rPr>
              <a:t>Como Mediremos el Exito?</a:t>
            </a:r>
          </a:p>
        </p:txBody>
      </p:sp>
      <p:pic>
        <p:nvPicPr>
          <p:cNvPr id="5" name="Picture 4" descr="Mesa de trabajo 175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"/>
            <a:ext cx="502920" cy="764325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pic>
        <p:nvPicPr>
          <p:cNvPr id="7" name="Picture 6" descr="Mesa de trabajo 168-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132588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Apariciones en medios Tier 1 y Tier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Share of voice frente a competidores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Alcance y engagement en LinkedIn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2316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CD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Leads atribuidos a contenido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76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sa de trabajo 2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7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Trebuchet MS"/>
              </a:rPr>
              <a:t>Gracias</a:t>
            </a:r>
          </a:p>
        </p:txBody>
      </p:sp>
      <p:pic>
        <p:nvPicPr>
          <p:cNvPr id="5" name="Picture 4" descr="Mesa de trabajo 176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"/>
            <a:ext cx="502920" cy="739588"/>
          </a:xfrm>
          <a:prstGeom prst="rect">
            <a:avLst/>
          </a:prstGeom>
        </p:spPr>
      </p:pic>
      <p:pic>
        <p:nvPicPr>
          <p:cNvPr id="6" name="Picture 5" descr="PR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82880"/>
            <a:ext cx="1783080" cy="1199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214884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Nombre de la agencia</a:t>
            </a:r>
          </a:p>
          <a:p>
            <a:pPr>
              <a:defRPr b="1" sz="3000">
                <a:solidFill>
                  <a:srgbClr val="FFFFFF"/>
                </a:solidFill>
                <a:latin typeface="Trebuchet MS"/>
              </a:defRPr>
            </a:pPr>
            <a:r>
              <a:t>Conoce mas de nosotros</a:t>
            </a:r>
          </a:p>
        </p:txBody>
      </p:sp>
      <p:pic>
        <p:nvPicPr>
          <p:cNvPr id="8" name="Picture 7" descr="Mesa de trabajo 168-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236208"/>
            <a:ext cx="2743200" cy="9073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