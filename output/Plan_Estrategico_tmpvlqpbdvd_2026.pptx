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16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19</c:v>
                </c:pt>
                <c:pt idx="2">
                  <c:v>21</c:v>
                </c:pt>
                <c:pt idx="3">
                  <c:v>12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16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0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Trebuchet MS"/>
              </a:rPr>
              <a:t>Plan Estrategico de Comunicaciones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  <a:latin typeface="Trebuchet MS"/>
              </a:rPr>
              <a:t>[COMPLETAR: nombre del cliente] | 2026</a:t>
            </a:r>
          </a:p>
        </p:txBody>
      </p:sp>
      <p:sp>
        <p:nvSpPr>
          <p:cNvPr id="4" name="Oval 3"/>
          <p:cNvSpPr/>
          <p:nvPr/>
        </p:nvSpPr>
        <p:spPr>
          <a:xfrm>
            <a:off x="9235440" y="731520"/>
            <a:ext cx="1737360" cy="1737360"/>
          </a:xfrm>
          <a:prstGeom prst="ellipse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0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Trebuchet MS"/>
              </a:rPr>
              <a:t>Plan de Prensa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011680"/>
            <a:ext cx="42062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40B4"/>
                </a:solidFill>
                <a:latin typeface="Calibri"/>
              </a:rPr>
              <a:t>Plan de Prensa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Analisis de Competidores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3246120" cy="3977639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Marca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48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480560" y="1234440"/>
            <a:ext cx="3246120" cy="3977639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Marca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36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61772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68680" y="5440680"/>
            <a:ext cx="10332720" cy="73152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Conclusiones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Marca A domina en Tier 1, mientras que Marca B concentra una presencia mas uniforme en medios secundarios.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Analisis de Concepto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Transformacion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67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2331720"/>
          <a:ext cx="338328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0" y="1554480"/>
            <a:ext cx="1225295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automatizacion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7023" y="1554480"/>
            <a:ext cx="155448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eficiencia operativa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71231" y="1554480"/>
            <a:ext cx="1060704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IA aplicada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41663" y="1554480"/>
            <a:ext cx="1719072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experiencia del cliente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160520"/>
            <a:ext cx="5943600" cy="12801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Conclusiones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El concepto conecta mejor cuando se aterriza en beneficios concretos para el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Conclusiones Generales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3154680" cy="292608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033272" y="1874519"/>
            <a:ext cx="502920" cy="502920"/>
          </a:xfrm>
          <a:prstGeom prst="hexagon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Marca A domina en Tier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154680" cy="292608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4645152" y="1874519"/>
            <a:ext cx="502920" cy="502920"/>
          </a:xfrm>
          <a:prstGeom prst="hexagon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mientras que Marca B concentra una presencia mas uniforme en medios secundarios.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45920"/>
            <a:ext cx="3154680" cy="292608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257032" y="1874519"/>
            <a:ext cx="502920" cy="502920"/>
          </a:xfrm>
          <a:prstGeom prst="hexagon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5603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[COMPLETAR: conclusiones estrategicas]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Recursos de Prensa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63040"/>
            <a:ext cx="480060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Comunicados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Comunicados, columnas de opinion o cartas al director. Es el recurso mas usado para lograr apariciones en medios digitales.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480060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Entrevistas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Centradas en potenciar estudios o hitos. Acompanadas de un brief enfocado en la estrategia.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383280"/>
            <a:ext cx="480060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Contingencia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Participacion en solicitudes de periodistas. Contenido propuesto segun pauta mediatica del momento.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83280"/>
            <a:ext cx="480060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Relacionamiento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Instancias de conversacion intima con medios para crear lazos a largo plazo con la marca.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Objetivo Core de la Estrategia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691640"/>
            <a:ext cx="10012680" cy="292608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Trebuchet MS"/>
              </a:rPr>
              <a:t>[COMPLETAR: objetivo central de la estrategia]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Buyer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Lider de Innovacion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3383280" cy="91440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Edad / Profesion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38 | Gerente de Transformacion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97480"/>
            <a:ext cx="5166360" cy="10515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Contexto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Lidera iniciativas de cambio en una empresa mediana con presion por mostrar resultados rapidos.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4572000" cy="10515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Dolores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Falta de tiempo; resistencia interna al cambio; proveedores poco claros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31920"/>
            <a:ext cx="5166360" cy="10515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Modernizar procesos; demostrar ROI; ganar visibilidad interna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80360"/>
            <a:ext cx="4572000" cy="210312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Como busca informacion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Busca reportes, casos de exito, opinion de expertos y cobertura en medios de negocio.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100584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analitico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3488" y="1783080"/>
            <a:ext cx="100584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pragmatico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49056" y="1783080"/>
            <a:ext cx="100584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curioso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5 Pasos de la Estrategia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23444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1615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Definir narrativa principal y mensajes clave.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7627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Priorizar medios y periodistas alineados al objetivo.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15468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3639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Preparar activos de voceria y comunicados.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9651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Ejecutar relacionamiento y respuesta a contingencias.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07492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05663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Medir resultados y ajustar el enfoque mes a 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Pilares de Comunicacion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4892040" cy="315468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FFFFFF"/>
                </a:solidFill>
                <a:latin typeface="Trebuchet MS"/>
              </a:defRPr>
            </a:pPr>
            <a:r>
              <a:t>Liderazgo y vision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Mostrar una mirada experta y clara sobre los cambios de la industria.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4892040" cy="315468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A1A1A"/>
                </a:solidFill>
                <a:latin typeface="Trebuchet MS"/>
              </a:defRPr>
            </a:pPr>
            <a:r>
              <a:t>Casos y resultados</a:t>
            </a:r>
          </a:p>
          <a:p>
            <a:pPr>
              <a:defRPr sz="1500">
                <a:solidFill>
                  <a:srgbClr val="1A1A1A"/>
                </a:solidFill>
                <a:latin typeface="Calibri"/>
              </a:defRPr>
            </a:pPr>
            <a:r>
              <a:t>Traducir la propuesta de valor en ejemplos concretos y medibles.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Propuestas de Tematicas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132588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Trebuchet MS"/>
              </a:defRPr>
            </a:pPr>
            <a:r>
              <a:t>Enero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- Como modernizar procesos sin frenar la operacion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- Que errores evitar al implementar IA en empresas medianas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4846320" cy="132588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A1A1A"/>
                </a:solidFill>
                <a:latin typeface="Trebuchet MS"/>
              </a:defRPr>
            </a:pPr>
            <a:r>
              <a:t>Febrero</a:t>
            </a:r>
          </a:p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- Tendencias de automatizacion para 2026</a:t>
            </a:r>
          </a:p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- Casos de exito que muestran ROI real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Periodistas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34440"/>
            <a:ext cx="2743200" cy="4114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234440"/>
            <a:ext cx="2834640" cy="4114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1234440"/>
            <a:ext cx="3383280" cy="4114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Area / Beat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Ana Perez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69164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Diario Financiero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69164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Negocios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10312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Tomas Rojas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10312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Pulso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10312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Tecnologia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51460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51460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51460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92608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92608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92608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33756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33756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33756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749039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749039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3749039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16052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16052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416052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57200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457200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457200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983480"/>
            <a:ext cx="274320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4983480"/>
            <a:ext cx="283464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983480"/>
            <a:ext cx="3383280" cy="384048"/>
          </a:xfrm>
          <a:prstGeom prst="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39496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539496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539496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Como Mediremos el Exito?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Apariciones en medios Tier 1 y Tier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Share of voice frente a competidores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2316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Alcance y engagement en LinkedIn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42316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Leads atribuidos a contenido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0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Trebuchet MS"/>
              </a:rPr>
              <a:t>Plan de Marketing de Contenidos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011680"/>
            <a:ext cx="42062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40B4"/>
                </a:solidFill>
                <a:latin typeface="Calibri"/>
              </a:rPr>
              <a:t>Plan de Marketing de Contenidos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Analisis de Competidores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3246120" cy="3977639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Marca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48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480560" y="1234440"/>
            <a:ext cx="3246120" cy="3977639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Marca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A1A1A"/>
                </a:solidFill>
                <a:latin typeface="Trebuchet MS"/>
              </a:defRPr>
            </a:pPr>
            <a:r>
              <a:t>36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61772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68680" y="5440680"/>
            <a:ext cx="10332720" cy="73152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Conclusiones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Marca A domina en Tier 1, mientras que Marca B concentra una presencia mas uniforme en medios secundarios.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Desk Research: Estado de Redes Sociales del Cliente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LinkedIn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Seguidores: 12000</a:t>
            </a:r>
            <a:br/>
            <a:r>
              <a:t>Frecuencia: 2 veces por semana</a:t>
            </a:r>
            <a:br/>
            <a:r>
              <a:t>Tono: profesional</a:t>
            </a:r>
            <a:br/>
            <a:r>
              <a:t>Observaciones: Buen nivel de consistencia visual pero bajo uso de formatos interactivos.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4846320" cy="15087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Instagram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Seguidores: 6500</a:t>
            </a:r>
            <a:br/>
            <a:r>
              <a:t>Frecuencia: 1 vez por semana</a:t>
            </a:r>
            <a:br/>
            <a:r>
              <a:t>Tono: cercano</a:t>
            </a:r>
            <a:br/>
            <a:r>
              <a:t>Observaciones: Hay espacio para mayor frecuencia y contenido educativo.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394960"/>
            <a:ext cx="10241280" cy="64008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Sintesis general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La marca tiene una base solida, pero necesita una estrategia editorial mas clara y orientada a conversion.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Objetivos / Metas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80160"/>
            <a:ext cx="10241280" cy="91440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Objetivo principal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[COMPLETAR: objetivo central]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56032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 1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Apariciones en medios Tier 1 y Tier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56032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 2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Share of voice frente a competidores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5760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 3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Alcance y engagement en LinkedIn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65760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Meta 4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Leads atribuidos a contenido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Tacticas / Tipos de Contenido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86868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Liderazgo de opinion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Articulos, columnas y posts con postura clara sobre la industria.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4846320" cy="86868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Casos de exito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Historias de clientes con aprendizajes y resultados medibles.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4846320" cy="86868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Microcontenidos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Clips, carruseles y piezas breves que simplifican temas complejos.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Como Se Ejecutara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71600"/>
            <a:ext cx="10241280" cy="1828800"/>
          </a:xfrm>
          <a:prstGeom prst="roundRect">
            <a:avLst/>
          </a:prstGeom>
          <a:solidFill>
            <a:srgbClr val="ECECEC"/>
          </a:solidFill>
          <a:ln>
            <a:solidFill>
              <a:srgbClr val="727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40B4"/>
                </a:solidFill>
                <a:latin typeface="Trebuchet MS"/>
              </a:defRPr>
            </a:pPr>
            <a:r>
              <a:t>Roadmap de ejecucion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Se trabajara con una planificacion mensual, una reunion editorial por mes, produccion de piezas priorizadas por impacto y seguimiento semanal de desempeno.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977639"/>
            <a:ext cx="2103120" cy="91440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Planificacion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977639"/>
            <a:ext cx="2103120" cy="91440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Produccion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3977639"/>
            <a:ext cx="2103120" cy="91440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Distribucion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39" y="3977639"/>
            <a:ext cx="2103120" cy="91440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Medicion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40B4"/>
                </a:solidFill>
                <a:latin typeface="Trebuchet MS"/>
              </a:rPr>
              <a:t>Como Mediremos el Exito?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Apariciones en medios Tier 1 y Tier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Share of voice frente a competidores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2316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Alcance y engagement en LinkedIn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423160"/>
            <a:ext cx="484632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FF4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Leads atribuidos a contenido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0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Trebuchet MS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Presentacion lista para revision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